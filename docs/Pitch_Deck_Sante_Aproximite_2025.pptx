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8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B0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731520"/>
            <a:ext cx="59436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37560" y="109728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37560" y="11430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9688"/>
                </a:solidFill>
                <a:latin typeface="Segoe UI"/>
              </a:rPr>
              <a:t>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C2340"/>
                </a:solidFill>
                <a:latin typeface="Segoe UI"/>
              </a:rPr>
              <a:t>Santé Aproximite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8E99B0"/>
                </a:solidFill>
                <a:latin typeface="Segoe UI"/>
              </a:rPr>
              <a:t>La </a:t>
            </a:r>
            <a:r>
              <a:rPr sz="1600" b="0" i="1" dirty="0" err="1">
                <a:solidFill>
                  <a:srgbClr val="8E99B0"/>
                </a:solidFill>
                <a:latin typeface="Segoe UI"/>
              </a:rPr>
              <a:t>santé</a:t>
            </a:r>
            <a:r>
              <a:rPr sz="1600" b="0" i="1" dirty="0">
                <a:solidFill>
                  <a:srgbClr val="8E99B0"/>
                </a:solidFill>
                <a:latin typeface="Segoe UI"/>
              </a:rPr>
              <a:t> de </a:t>
            </a:r>
            <a:r>
              <a:rPr sz="1600" b="0" i="1" dirty="0" err="1">
                <a:solidFill>
                  <a:srgbClr val="8E99B0"/>
                </a:solidFill>
                <a:latin typeface="Segoe UI"/>
              </a:rPr>
              <a:t>proximité</a:t>
            </a:r>
            <a:r>
              <a:rPr sz="1600" b="0" i="1" dirty="0">
                <a:solidFill>
                  <a:srgbClr val="8E99B0"/>
                </a:solidFill>
                <a:latin typeface="Segoe UI"/>
              </a:rPr>
              <a:t> dans </a:t>
            </a:r>
            <a:r>
              <a:rPr sz="1600" b="0" i="1" dirty="0" err="1">
                <a:solidFill>
                  <a:srgbClr val="8E99B0"/>
                </a:solidFill>
                <a:latin typeface="Segoe UI"/>
              </a:rPr>
              <a:t>votre</a:t>
            </a:r>
            <a:r>
              <a:rPr sz="1600" b="0" i="1" dirty="0">
                <a:solidFill>
                  <a:srgbClr val="8E99B0"/>
                </a:solidFill>
                <a:latin typeface="Segoe UI"/>
              </a:rPr>
              <a:t> poche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6576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🏥 Urgence 24/7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6576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36576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📍 Géolocalisation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36576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🛡️ Sécurité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9B0"/>
                </a:solidFill>
                <a:latin typeface="Segoe UI"/>
              </a:rPr>
              <a:t>Par YEFA TECHNOLOGIE  ·  yefa.technologie@gmail.com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1988" y="1033272"/>
            <a:ext cx="2278966" cy="493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78836" y="960120"/>
            <a:ext cx="2278966" cy="493776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08-chef-login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574" y="1305763"/>
            <a:ext cx="2005490" cy="424647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9076475" y="5733288"/>
            <a:ext cx="683689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AABB"/>
                </a:solidFill>
                <a:latin typeface="Segoe UI"/>
              </a:rPr>
              <a:t>PITCH DECK  ·  2025</a:t>
            </a: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97F1D53B-6363-45AC-BA0D-2B5F879218C8}"/>
              </a:ext>
            </a:extLst>
          </p:cNvPr>
          <p:cNvSpPr txBox="1"/>
          <p:nvPr/>
        </p:nvSpPr>
        <p:spPr>
          <a:xfrm>
            <a:off x="1500319" y="4114800"/>
            <a:ext cx="43891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Une application mobile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concue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pour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rapprocher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les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citoyens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des services de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sante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accelerer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les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signalements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d'urgence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et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renforcer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la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confiance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dans le </a:t>
            </a:r>
            <a:r>
              <a:rPr sz="1600" b="0" dirty="0" err="1">
                <a:solidFill>
                  <a:schemeClr val="accent1">
                    <a:lumMod val="75000"/>
                  </a:schemeClr>
                </a:solidFill>
              </a:rPr>
              <a:t>systeme</a:t>
            </a:r>
            <a:r>
              <a:rPr sz="1600" b="0" dirty="0">
                <a:solidFill>
                  <a:schemeClr val="accent1">
                    <a:lumMod val="75000"/>
                  </a:schemeClr>
                </a:solidFill>
              </a:rPr>
              <a:t> sanitaire.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20A"/>
                </a:solidFill>
                <a:latin typeface="Segoe UI"/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2340"/>
                </a:solidFill>
                <a:latin typeface="Segoe UI"/>
              </a:rPr>
              <a:t>L'accès aux soins en Afrique :
une réalité difficile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0312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240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C2340"/>
                </a:solidFill>
                <a:latin typeface="Segoe UI"/>
              </a:rPr>
              <a:t>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Trouver un centre de santé équipé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08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Impossible de savoir à l'avance les services disponibles ni les distances réelles.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10312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2240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C2340"/>
                </a:solidFill>
                <a:latin typeface="Segoe UI"/>
              </a:rPr>
              <a:t>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Urgences sans 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108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Pas de système unifié pour alerter le SAMU, les pompiers ou la police et suivre l'intervention.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1480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C2340"/>
                </a:solidFill>
                <a:latin typeface="Segoe UI"/>
              </a:rPr>
              <a:t>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00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Plaintes sans réponse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120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Les patients n'ont aucun canal officiel pour signaler les mauvaises pratiques.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11480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4251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C2340"/>
                </a:solidFill>
                <a:latin typeface="Segoe UI"/>
              </a:rPr>
              <a:t>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800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Déconnexion dans les zones rurales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5120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Les réseaux instables coupent l'accès aux services critiques au pire moment.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57200"/>
            <a:ext cx="3840480" cy="59436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8229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688"/>
                </a:solidFill>
                <a:latin typeface="Segoe UI"/>
              </a:rPr>
              <a:t>Le saviez-vous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554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620A"/>
                </a:solidFill>
                <a:latin typeface="Segoe UI"/>
              </a:rPr>
              <a:t>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1488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des Africains n'ont pas accès
à un médecin à moins de 5 km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108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620A"/>
                </a:solidFill>
                <a:latin typeface="Segoe UI"/>
              </a:rPr>
              <a:t>8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7033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de délai moyen gagné quand
l'urgence est bien géolocalisée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6634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620A"/>
                </a:solidFill>
                <a:latin typeface="Segoe UI"/>
              </a:rPr>
              <a:t>3 124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2578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centres de santé déjà
répertoriés dans la 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  <a:latin typeface="Segoe UI"/>
              </a:rPr>
              <a:t>NOTRE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Une plateforme tout-en-un
pour la santé de proximité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DD"/>
                </a:solidFill>
                <a:latin typeface="Segoe UI"/>
              </a:rPr>
              <a:t>Santé Aproximite connecte citoyens, établissements de santé et secours
via une application mobile intuitive et hors-ligne, géolocalisée en temps réel.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926080"/>
            <a:ext cx="2743200" cy="347472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274320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"/>
              </a:rP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Découverte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Trouvez le centre le plus proche
avec ses services et équipements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926080"/>
            <a:ext cx="2743200" cy="347472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18688" y="2926080"/>
            <a:ext cx="2743200" cy="109728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1568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"/>
              </a:rPr>
              <a:t>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3794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Urgences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42062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Signalez et suivez toute urgence
médical ou sécuritaire en temps réel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2926080"/>
            <a:ext cx="2743200" cy="347472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056" y="2926080"/>
            <a:ext cx="2743200" cy="10972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5936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794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Plaintes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42062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Déposez et suivez vos plaintes
avec réponse officielle garantie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07424" y="2926080"/>
            <a:ext cx="2743200" cy="347472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07424" y="2926080"/>
            <a:ext cx="27432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90304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794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42062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Pilotez votre établissement
statistiques, notation, approbation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19275" y="1353312"/>
            <a:ext cx="2110153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546123" y="1280160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01-cen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732" y="1600200"/>
            <a:ext cx="1856935" cy="39319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9284676" y="568756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Segoe UI"/>
              </a:rPr>
              <a:t>FONCTIONNALITÉ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Centres de Santé à Proximité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Carte GPS interactive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99B0"/>
                </a:solidFill>
                <a:latin typeface="Segoe UI"/>
              </a:rPr>
              <a:t>Visualisez les centres autour de vous avec des marqueurs colorés sur Google Maps.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60020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31920" y="160020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6916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Recherche filtrée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0391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99B0"/>
                </a:solidFill>
                <a:latin typeface="Segoe UI"/>
              </a:rPr>
              <a:t>Filtrez par nom de centre ou service spécifique. Rayon ajustable de 1 à 700 km.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1752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108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Notes &amp; Satisfaction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45643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99B0"/>
                </a:solidFill>
                <a:latin typeface="Segoe UI"/>
              </a:rPr>
              <a:t>Consultez les avis d'autres patients, notez de 1 à 5 étoiles, signalez votre satisfaction.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301752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931920" y="301752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108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Itinéraire en 1 clic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45643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99B0"/>
                </a:solidFill>
                <a:latin typeface="Segoe UI"/>
              </a:rPr>
              <a:t>Lance directement Google Maps pour vous guider jusqu'au centre choisi.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3484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443484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26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Données hors-ligne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873752"/>
            <a:ext cx="24688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8E99B0"/>
                </a:solidFill>
                <a:latin typeface="Segoe UI"/>
              </a:rPr>
              <a:t>3 124 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centres</a:t>
            </a:r>
            <a:r>
              <a:rPr sz="95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synchronisés</a:t>
            </a:r>
            <a:r>
              <a:rPr sz="95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localement</a:t>
            </a:r>
            <a:r>
              <a:rPr lang="fr-FR" sz="950" b="0" i="0" dirty="0">
                <a:solidFill>
                  <a:srgbClr val="8E99B0"/>
                </a:solidFill>
                <a:latin typeface="Segoe UI"/>
              </a:rPr>
              <a:t>-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consultables</a:t>
            </a:r>
            <a:r>
              <a:rPr sz="95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même</a:t>
            </a:r>
            <a:r>
              <a:rPr sz="950" b="0" i="0" dirty="0">
                <a:solidFill>
                  <a:srgbClr val="8E99B0"/>
                </a:solidFill>
                <a:latin typeface="Segoe UI"/>
              </a:rPr>
              <a:t> sans </a:t>
            </a:r>
            <a:r>
              <a:rPr sz="950" b="0" i="0" dirty="0" err="1">
                <a:solidFill>
                  <a:srgbClr val="8E99B0"/>
                </a:solidFill>
                <a:latin typeface="Segoe UI"/>
              </a:rPr>
              <a:t>réseau</a:t>
            </a:r>
            <a:r>
              <a:rPr sz="950" b="0" i="0" dirty="0">
                <a:solidFill>
                  <a:srgbClr val="8E99B0"/>
                </a:solidFill>
                <a:latin typeface="Segoe UI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4434840"/>
            <a:ext cx="33832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31920" y="443484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🏗️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526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Plateau technique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87375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99B0"/>
                </a:solidFill>
                <a:latin typeface="Segoe UI"/>
              </a:rPr>
              <a:t>Connaissez les équipements disponibles avant même de vous déplacer.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44955" y="1444752"/>
            <a:ext cx="2110153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71803" y="1371600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01-cen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412" y="1691640"/>
            <a:ext cx="1856935" cy="393192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9010356" y="577900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20A"/>
                </a:solidFill>
                <a:latin typeface="Segoe UI"/>
              </a:rPr>
              <a:t>FONCTIONNALITÉ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Urgences Sanitaires 24/7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69494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80" y="1828800"/>
            <a:ext cx="594360" cy="594360"/>
          </a:xfrm>
          <a:prstGeom prst="ellipse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916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340"/>
                </a:solidFill>
                <a:latin typeface="Segoe UI"/>
              </a:rPr>
              <a:t>Choisissez le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7568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B0"/>
                </a:solidFill>
                <a:latin typeface="Segoe UI"/>
              </a:rPr>
              <a:t>SAMU (médical) ou Sapeurs-Pompiers (incendie, accidents, secours)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70632"/>
            <a:ext cx="69494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11480" y="2999232"/>
            <a:ext cx="594360" cy="59436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6207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340"/>
                </a:solidFill>
                <a:latin typeface="Segoe UI"/>
              </a:rPr>
              <a:t>Décrivez l'urgence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4612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B0"/>
                </a:solidFill>
                <a:latin typeface="Segoe UI"/>
              </a:rPr>
              <a:t>Type d'urgence parmi 8 catégories + description libre + photos optionnelles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41064"/>
            <a:ext cx="69494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11480" y="4169664"/>
            <a:ext cx="594360" cy="59436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16966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32504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340"/>
                </a:solidFill>
                <a:latin typeface="Segoe UI"/>
              </a:rPr>
              <a:t>Capturez votre position GPS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16552"/>
            <a:ext cx="5852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8E99B0"/>
                </a:solidFill>
                <a:latin typeface="Segoe UI"/>
              </a:rPr>
              <a:t>Précision</a:t>
            </a:r>
            <a:r>
              <a:rPr sz="1100" b="0" i="0" dirty="0">
                <a:solidFill>
                  <a:srgbClr val="8E99B0"/>
                </a:solidFill>
                <a:latin typeface="Segoe UI"/>
              </a:rPr>
              <a:t> ≤ 300 m </a:t>
            </a:r>
            <a:r>
              <a:rPr sz="1100" b="0" i="0" dirty="0" err="1">
                <a:solidFill>
                  <a:srgbClr val="8E99B0"/>
                </a:solidFill>
                <a:latin typeface="Segoe UI"/>
              </a:rPr>
              <a:t>exigée</a:t>
            </a:r>
            <a:r>
              <a:rPr sz="11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lang="fr-CI" sz="1100" dirty="0">
                <a:solidFill>
                  <a:srgbClr val="8E99B0"/>
                </a:solidFill>
                <a:latin typeface="Segoe UI"/>
              </a:rPr>
              <a:t>- </a:t>
            </a:r>
            <a:r>
              <a:rPr sz="1100" b="0" i="0" dirty="0">
                <a:solidFill>
                  <a:srgbClr val="8E99B0"/>
                </a:solidFill>
                <a:latin typeface="Segoe UI"/>
              </a:rPr>
              <a:t>code couleur pour </a:t>
            </a:r>
            <a:r>
              <a:rPr sz="1100" b="0" i="0" dirty="0" err="1">
                <a:solidFill>
                  <a:srgbClr val="8E99B0"/>
                </a:solidFill>
                <a:latin typeface="Segoe UI"/>
              </a:rPr>
              <a:t>valider</a:t>
            </a:r>
            <a:r>
              <a:rPr sz="1100" b="0" i="0" dirty="0">
                <a:solidFill>
                  <a:srgbClr val="8E99B0"/>
                </a:solidFill>
                <a:latin typeface="Segoe UI"/>
              </a:rPr>
              <a:t> la </a:t>
            </a:r>
            <a:r>
              <a:rPr sz="1100" b="0" i="0" dirty="0" err="1">
                <a:solidFill>
                  <a:srgbClr val="8E99B0"/>
                </a:solidFill>
                <a:latin typeface="Segoe UI"/>
              </a:rPr>
              <a:t>précision</a:t>
            </a:r>
            <a:endParaRPr sz="1100" b="0" i="0" dirty="0">
              <a:solidFill>
                <a:srgbClr val="8E99B0"/>
              </a:solidFill>
              <a:latin typeface="Segoe U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320" y="5111496"/>
            <a:ext cx="69494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11480" y="5340096"/>
            <a:ext cx="594360" cy="5943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34009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0293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340"/>
                </a:solidFill>
                <a:latin typeface="Segoe UI"/>
              </a:rPr>
              <a:t>Suivi en temps réel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586984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9B0"/>
                </a:solidFill>
                <a:latin typeface="Segoe UI"/>
              </a:rPr>
              <a:t>Nouveau → Pris en charge → En route → Sur place → Terminé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80760"/>
            <a:ext cx="6949440" cy="594360"/>
          </a:xfrm>
          <a:prstGeom prst="rect">
            <a:avLst/>
          </a:prstGeom>
          <a:solidFill>
            <a:srgbClr val="FF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608076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620A"/>
                </a:solidFill>
                <a:latin typeface="Segoe UI"/>
              </a:rPr>
              <a:t>📞  Appel rapide intégré :  SAMU 15   |   Pompiers 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44955" y="1444752"/>
            <a:ext cx="2110153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71803" y="1371600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04-urgence-sanit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412" y="1691640"/>
            <a:ext cx="1856935" cy="39319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9010356" y="577900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AAFF"/>
                </a:solidFill>
                <a:latin typeface="Segoe UI"/>
              </a:rPr>
              <a:t>FONCTIONNALITÉ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Urgences Sécuritaires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331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331720" cy="4572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627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340"/>
                </a:solidFill>
                <a:latin typeface="Segoe UI"/>
              </a:rPr>
              <a:t>Police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604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5EA7"/>
                </a:solidFill>
                <a:latin typeface="Segoe UI"/>
              </a:rPr>
              <a:t>Agression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44952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044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5EA7"/>
                </a:solidFill>
                <a:latin typeface="Segoe UI"/>
              </a:rPr>
              <a:t>Vol/braquage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83864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4838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5EA7"/>
                </a:solidFill>
                <a:latin typeface="Segoe UI"/>
              </a:rPr>
              <a:t>Attroupement suspect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22776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922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5EA7"/>
                </a:solidFill>
                <a:latin typeface="Segoe UI"/>
              </a:rPr>
              <a:t>Intrusion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61688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3616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B5EA7"/>
                </a:solidFill>
                <a:latin typeface="Segoe UI"/>
              </a:rPr>
              <a:t>Drogue/fumoir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1554480"/>
            <a:ext cx="2331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0" y="1554480"/>
            <a:ext cx="2331720" cy="457200"/>
          </a:xfrm>
          <a:prstGeom prst="rect">
            <a:avLst/>
          </a:prstGeom>
          <a:solidFill>
            <a:srgbClr val="4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88920" y="1627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103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340"/>
                </a:solidFill>
                <a:latin typeface="Segoe UI"/>
              </a:rPr>
              <a:t>Gendarmerie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260604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606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8A"/>
                </a:solidFill>
                <a:latin typeface="Segoe UI"/>
              </a:rPr>
              <a:t>Attaque armée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3044952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0" y="3044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8A"/>
                </a:solidFill>
                <a:latin typeface="Segoe UI"/>
              </a:rPr>
              <a:t>Braquage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3483864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0" y="34838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8A"/>
                </a:solidFill>
                <a:latin typeface="Segoe UI"/>
              </a:rPr>
              <a:t>Coupeur de route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3922776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80" y="3922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8A"/>
                </a:solidFill>
                <a:latin typeface="Segoe UI"/>
              </a:rPr>
              <a:t>Menace terroriste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4361688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43616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A8A"/>
                </a:solidFill>
                <a:latin typeface="Segoe UI"/>
              </a:rPr>
              <a:t>Conflit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1554480"/>
            <a:ext cx="2331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212080" y="1554480"/>
            <a:ext cx="2331720" cy="45720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57800" y="1627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2103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340"/>
                </a:solidFill>
                <a:latin typeface="Segoe UI"/>
              </a:rPr>
              <a:t>Protection Civile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94960" y="2606040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94960" y="2606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5500"/>
                </a:solidFill>
                <a:latin typeface="Segoe UI"/>
              </a:rPr>
              <a:t>Incendie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94960" y="3044952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94960" y="3044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5500"/>
                </a:solidFill>
                <a:latin typeface="Segoe UI"/>
              </a:rPr>
              <a:t>Inondation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94960" y="3483864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94960" y="34838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5500"/>
                </a:solidFill>
                <a:latin typeface="Segoe UI"/>
              </a:rPr>
              <a:t>Effondrement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94960" y="3922776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94960" y="3922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5500"/>
                </a:solidFill>
                <a:latin typeface="Segoe UI"/>
              </a:rPr>
              <a:t>Fuite de gaz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94960" y="4361688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94960" y="43616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5500"/>
                </a:solidFill>
                <a:latin typeface="Segoe UI"/>
              </a:rPr>
              <a:t>Sauvetage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8521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Segoe UI"/>
              </a:rPr>
              <a:t>📍 Position GPS capturée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8521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Segoe UI"/>
              </a:rPr>
              <a:t>📸 Photos jointes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58521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Segoe UI"/>
              </a:rPr>
              <a:t>📱 Suivi de mes alertes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58521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Segoe UI"/>
              </a:rPr>
              <a:t>🔒 Anonymat préservé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44955" y="1444752"/>
            <a:ext cx="2110153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271803" y="1371600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05-urgence-securit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412" y="1691640"/>
            <a:ext cx="1856935" cy="393192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9010356" y="577900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Segoe UI"/>
              </a:rPr>
              <a:t>FONCTIONNALITÉ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Gestion Transparente des Plaintes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👤  Côté Citoyen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116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Plainte liée à un centre ou générale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Sujets rapides : Accueil, Attente, Propreté...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346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Description détaillée avec compteur de caractères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46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Suivi : NOUVELLE → EN COURS → RÉSOLUE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657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Feedback de satisfaction post-résolution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508760"/>
            <a:ext cx="27432" cy="493776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🏥  Côté Établissement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0116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Tableau de bord des plaintes reçues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423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Indicateurs : note moyenne, taux de 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8346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Réponse officielle avec explication traçable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246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Statuts : NOUVELLE / EN COURS / RÉSOLUE / REJETÉE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657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340"/>
                </a:solidFill>
                <a:latin typeface="Segoe UI"/>
              </a:rPr>
              <a:t>✓  Statistiques de satisfaction en temps réel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9893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NOUVELLE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59893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03120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EN COURS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59893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0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RÉSOLUE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59893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0" y="5989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REJETÉE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44955" y="1444752"/>
            <a:ext cx="2110153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71803" y="1371600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03-plai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412" y="1691640"/>
            <a:ext cx="1856935" cy="393192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010356" y="577900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20A"/>
                </a:solidFill>
                <a:latin typeface="Segoe UI"/>
              </a:rPr>
              <a:t>ARCHITECTURE MULTI-RÔLES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Une app, sept profils utilisateur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743200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Citoyen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Consulte, note, signale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55448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1554480"/>
            <a:ext cx="2743200" cy="9144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0128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Chef Étab.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son centre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55448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3056" y="1554480"/>
            <a:ext cx="2743200" cy="914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4496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SAMU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les urgences méd.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07424" y="155448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07424" y="1554480"/>
            <a:ext cx="2743200" cy="914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98864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Sapeurs-Pompiers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incendies/accidents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65760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3657600"/>
            <a:ext cx="2743200" cy="9144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840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37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incidents sécurité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88" y="365760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18688" y="3657600"/>
            <a:ext cx="2743200" cy="9144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10128" y="3840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Gendarmerie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4937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alertes terrain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3056" y="3657600"/>
            <a:ext cx="2743200" cy="1828800"/>
          </a:xfrm>
          <a:prstGeom prst="rect">
            <a:avLst/>
          </a:prstGeom>
          <a:solidFill>
            <a:srgbClr val="25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63056" y="3657600"/>
            <a:ext cx="274320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54496" y="3840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🛡️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4496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Protection Civile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4496" y="4937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Segoe UI"/>
              </a:rPr>
              <a:t>Gère catastrophes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03681" y="1444752"/>
            <a:ext cx="1941341" cy="420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630529" y="1371600"/>
            <a:ext cx="1941341" cy="420624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02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009" y="1666036"/>
            <a:ext cx="1708380" cy="361736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9309998" y="5413248"/>
            <a:ext cx="582402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8B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20A"/>
                </a:solidFill>
                <a:latin typeface="Segoe UI"/>
              </a:rPr>
              <a:t>TABLEAU DE BORD ÉTABLISSEMENT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Piloter son établissement en temps réel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69494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73152" cy="896112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2763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Créer &amp; gérer son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7510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Saisie complète : nom, adresse, region, district, niveau, type (CHU, Clinique, ESPC…), plateau technique et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60320"/>
            <a:ext cx="69494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560320"/>
            <a:ext cx="73152" cy="896112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6334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3347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Coordonnées GPS précises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8094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Saisie manuelle ou capture automatique depuis l'appareil. Indispensable pour apparaître dans la carte des utilisateurs.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66160"/>
            <a:ext cx="69494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73152" cy="896112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6393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3931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Statistiques en 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8678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E99B0"/>
                </a:solidFill>
                <a:latin typeface="Segoe UI"/>
              </a:rPr>
              <a:t>Note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moyenne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★,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taux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de satisfaction %,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nombre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total de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plaintes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reçues</a:t>
            </a:r>
            <a:r>
              <a:rPr lang="fr-FR" sz="1000" b="0" i="0" dirty="0">
                <a:solidFill>
                  <a:srgbClr val="8E99B0"/>
                </a:solidFill>
                <a:latin typeface="Segoe UI"/>
              </a:rPr>
              <a:t>-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actualisé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toutes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les 30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69494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73152" cy="896112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645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64515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Répondre aux plaintes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9262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Consultez chaque plainte et apportez une explication officielle tracée et horodatée.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77840"/>
            <a:ext cx="694944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5577840"/>
            <a:ext cx="73152" cy="896112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6509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2340"/>
                </a:solidFill>
                <a:latin typeface="Segoe U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5099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Processus d'approbation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99846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Statut visible : EN ATTENTE → APPROUVÉ ou REJETÉ par l'autorité régulatrice.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44955" y="1444752"/>
            <a:ext cx="2110153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71803" y="1371600"/>
            <a:ext cx="2110153" cy="457200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09-chef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412" y="1691640"/>
            <a:ext cx="1856935" cy="39319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9010356" y="5779008"/>
            <a:ext cx="633046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  <a:latin typeface="Segoe UI"/>
              </a:rPr>
              <a:t>STACK TECHNOLOGIQUE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Production-ready · Scalable · Sécurisé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743200" cy="512064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743200" cy="109728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📱 Mobile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417320"/>
            <a:ext cx="2743200" cy="512064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18688" y="1417320"/>
            <a:ext cx="274320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🖥️ Web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6060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  <a:latin typeface="Segoe UI"/>
              </a:rPr>
              <a:t>▸  Dashboard temps réel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  <a:latin typeface="Segoe UI"/>
              </a:rPr>
              <a:t>▸  Gestion des centres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3520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  <a:latin typeface="Segoe UI"/>
              </a:rPr>
              <a:t>▸  Approbation &amp; modération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1417320"/>
            <a:ext cx="2743200" cy="512064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3056" y="1417320"/>
            <a:ext cx="2743200" cy="10972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0216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Segoe UI"/>
              </a:rPr>
              <a:t>⚙️ Backend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7424" y="1417320"/>
            <a:ext cx="2743200" cy="512064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07424" y="1417320"/>
            <a:ext cx="27432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44584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🌐 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4584" y="3063240"/>
            <a:ext cx="2468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BBCCDD"/>
                </a:solidFill>
                <a:latin typeface="Segoe UI"/>
              </a:rPr>
              <a:t>▸  API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35204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  <a:latin typeface="Segoe UI"/>
              </a:rPr>
              <a:t>▸  Déploiement continu prêt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008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  <a:latin typeface="Segoe UI"/>
              </a:rPr>
              <a:t>🔑  Points différenciants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Segoe UI"/>
              </a:rPr>
              <a:t>OPPORTUNITÉ DE MARCHÉ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Un marché massif et sous-digitalisé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74320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874519"/>
            <a:ext cx="2743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I" sz="3800" b="1" i="0" dirty="0">
                <a:solidFill>
                  <a:srgbClr val="009688"/>
                </a:solidFill>
                <a:latin typeface="Segoe UI"/>
              </a:rPr>
              <a:t>29</a:t>
            </a:r>
            <a:r>
              <a:rPr sz="3800" b="1" i="0" dirty="0">
                <a:solidFill>
                  <a:srgbClr val="009688"/>
                </a:solidFill>
                <a:latin typeface="Segoe UI"/>
              </a:rPr>
              <a:t> 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51760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E99B0"/>
                </a:solidFill>
                <a:latin typeface="Segoe UI"/>
              </a:rPr>
              <a:t>Population </a:t>
            </a:r>
            <a:r>
              <a:rPr sz="1100" b="0" i="0" dirty="0" err="1">
                <a:solidFill>
                  <a:srgbClr val="8E99B0"/>
                </a:solidFill>
                <a:latin typeface="Segoe UI"/>
              </a:rPr>
              <a:t>ciblée</a:t>
            </a:r>
            <a:r>
              <a:rPr sz="1100" b="0" i="0" dirty="0">
                <a:solidFill>
                  <a:srgbClr val="8E99B0"/>
                </a:solidFill>
                <a:latin typeface="Segoe UI"/>
              </a:rPr>
              <a:t>
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55448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1554480"/>
            <a:ext cx="2743200" cy="109728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18688" y="1874519"/>
            <a:ext cx="2743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I" sz="3800" b="1" dirty="0">
                <a:solidFill>
                  <a:srgbClr val="E8620A"/>
                </a:solidFill>
                <a:latin typeface="Segoe UI"/>
              </a:rPr>
              <a:t>130</a:t>
            </a:r>
            <a:r>
              <a:rPr sz="3800" b="1" i="0" dirty="0">
                <a:solidFill>
                  <a:srgbClr val="E8620A"/>
                </a:solidFill>
                <a:latin typeface="Segoe UI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2651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9B0"/>
                </a:solidFill>
                <a:latin typeface="Segoe UI"/>
              </a:rPr>
              <a:t>Pénétration smartphone
en 2025 (GSMA)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55448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63056" y="1554480"/>
            <a:ext cx="27432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63056" y="1874519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ECC71"/>
                </a:solidFill>
                <a:latin typeface="Segoe UI"/>
              </a:rPr>
              <a:t>3 124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651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99B0"/>
                </a:solidFill>
                <a:latin typeface="Segoe UI"/>
              </a:rPr>
              <a:t>Centres déjà
répertoriés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340"/>
                </a:solidFill>
                <a:latin typeface="Segoe UI"/>
              </a:rPr>
              <a:t>Cibles prioritaires de déploiement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89120"/>
            <a:ext cx="55778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2340"/>
                </a:solidFill>
                <a:latin typeface="Segoe UI"/>
              </a:rPr>
              <a:t>🏛️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4439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Gouvernements &amp; Ministères de la Santé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731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Digitaliser le répertoire national des établissements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39512"/>
            <a:ext cx="55778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5330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2340"/>
                </a:solidFill>
                <a:latin typeface="Segoe UI"/>
              </a:rPr>
              <a:t>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2943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Établissements Privés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6235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Visibilité, réputation et gestion des retours patients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089904"/>
            <a:ext cx="55778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2340"/>
                </a:solidFill>
                <a:latin typeface="Segoe UI"/>
              </a:rPr>
              <a:t>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6144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Services de Secours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647395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Coordination des interventions d'urgence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940296"/>
            <a:ext cx="55778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70317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2340"/>
                </a:solidFill>
                <a:latin typeface="Segoe UI"/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6995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340"/>
                </a:solidFill>
                <a:latin typeface="Segoe UI"/>
              </a:rPr>
              <a:t>Grand 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73243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Application gratuite, accès sans compte pour l'essentiel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840480"/>
            <a:ext cx="5943600" cy="283464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5040" y="3840480"/>
            <a:ext cx="5943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1C2340"/>
                </a:solidFill>
                <a:latin typeface="Segoe UI"/>
              </a:rPr>
              <a:t>🌍
Côte d'Ivoire · </a:t>
            </a:r>
            <a:r>
              <a:rPr sz="1300" b="0" i="0" dirty="0" err="1">
                <a:solidFill>
                  <a:srgbClr val="1C2340"/>
                </a:solidFill>
                <a:latin typeface="Segoe UI"/>
              </a:rPr>
              <a:t>Sénégal</a:t>
            </a:r>
            <a:r>
              <a:rPr sz="1300" b="0" i="0" dirty="0">
                <a:solidFill>
                  <a:srgbClr val="1C2340"/>
                </a:solidFill>
                <a:latin typeface="Segoe UI"/>
              </a:rPr>
              <a:t> · Mali
Burkina Faso · Cameroun · </a:t>
            </a:r>
            <a:r>
              <a:rPr sz="1300" b="0" i="0" dirty="0" err="1">
                <a:solidFill>
                  <a:srgbClr val="1C2340"/>
                </a:solidFill>
                <a:latin typeface="Segoe UI"/>
              </a:rPr>
              <a:t>Bénin</a:t>
            </a:r>
            <a:r>
              <a:rPr sz="1300" b="0" i="0" dirty="0">
                <a:solidFill>
                  <a:srgbClr val="1C2340"/>
                </a:solidFill>
                <a:latin typeface="Segoe UI"/>
              </a:rPr>
              <a:t>
→ Extension </a:t>
            </a:r>
            <a:r>
              <a:rPr sz="1300" b="0" i="0" dirty="0" err="1">
                <a:solidFill>
                  <a:srgbClr val="1C2340"/>
                </a:solidFill>
                <a:latin typeface="Segoe UI"/>
              </a:rPr>
              <a:t>régionale</a:t>
            </a:r>
            <a:r>
              <a:rPr sz="1300" b="0" i="0" dirty="0">
                <a:solidFill>
                  <a:srgbClr val="1C2340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1C2340"/>
                </a:solidFill>
                <a:latin typeface="Segoe UI"/>
              </a:rPr>
              <a:t>planifiée</a:t>
            </a:r>
            <a:endParaRPr sz="1300" b="0" i="0" dirty="0">
              <a:solidFill>
                <a:srgbClr val="1C234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20A"/>
                </a:solidFill>
                <a:latin typeface="Segoe UI"/>
              </a:rPr>
              <a:t>MODÈLE ÉCONOMIQUE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Plusieurs leviers de monétisation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743200" cy="365760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74320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Freemium Citoyen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  <a:latin typeface="Segoe UI"/>
              </a:rPr>
              <a:t>Application gratuite pour les utilisateurs finaux.
Prime pour fonctionnalités avancées (historique étendu, alertes push premium).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417320"/>
            <a:ext cx="2743200" cy="365760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1417320"/>
            <a:ext cx="2743200" cy="109728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1691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SaaS Établissement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  <a:latin typeface="Segoe UI"/>
              </a:rPr>
              <a:t>Abonnement mensuel pour les chefs d'établissement :
visibilité boostée, statistiques détaillées, support prioritaire.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417320"/>
            <a:ext cx="2743200" cy="365760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3056" y="1417320"/>
            <a:ext cx="2743200" cy="10972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1691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🏛️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Licences Gouvernementales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  <a:latin typeface="Segoe UI"/>
              </a:rPr>
              <a:t>Contrats B2G : Ministères de la Santé, mairies, districts.
Base de données nationale des établissements, tableaux de bord régionaux.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07424" y="1417320"/>
            <a:ext cx="2743200" cy="3657600"/>
          </a:xfrm>
          <a:prstGeom prst="rect">
            <a:avLst/>
          </a:prstGeom>
          <a:solidFill>
            <a:srgbClr val="1E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07424" y="1417320"/>
            <a:ext cx="27432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44584" y="1691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Partenariats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  <a:latin typeface="Segoe UI"/>
              </a:rPr>
              <a:t>Compagnies d'assurance santé, ONG, agences de développement.
Intégration API pour systèmes existants.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303520"/>
            <a:ext cx="11640312" cy="1280160"/>
          </a:xfrm>
          <a:prstGeom prst="rect">
            <a:avLst/>
          </a:prstGeom>
          <a:solidFill>
            <a:srgbClr val="1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  <a:latin typeface="Segoe UI"/>
              </a:rPr>
              <a:t>🗓️ 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20A"/>
                </a:solidFill>
                <a:latin typeface="Segoe UI"/>
              </a:rPr>
              <a:t>Q2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35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Segoe UI"/>
              </a:rPr>
              <a:t>MVP lancé · 3 124 centres · Backend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20A"/>
                </a:solidFill>
                <a:latin typeface="Segoe UI"/>
              </a:rPr>
              <a:t>Q3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6035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Segoe UI"/>
              </a:rPr>
              <a:t>Onboarding établissements · Module régulateur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20A"/>
                </a:solidFill>
                <a:latin typeface="Segoe UI"/>
              </a:rPr>
              <a:t>Q4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6035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Segoe UI"/>
              </a:rPr>
              <a:t>Partenariat pilote Ministère · Monétisation 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4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20A"/>
                </a:solidFill>
                <a:latin typeface="Segoe UI"/>
              </a:rPr>
              <a:t>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6035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Segoe UI"/>
              </a:rPr>
              <a:t>Expansion sous-régionale · Levée de fonds Série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20A"/>
                </a:solidFill>
                <a:latin typeface="Segoe UI"/>
              </a:rPr>
              <a:t>POURQUOI INVESTIR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5 raisons de rejoindre l'aventure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73152" cy="118872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459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Produit déjà fonctionnel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11680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E99B0"/>
                </a:solidFill>
                <a:latin typeface="Segoe UI"/>
              </a:rPr>
              <a:t>MVP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en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production avec backend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réel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, 3 124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centres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, 6 modules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actifs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. Pas un concept </a:t>
            </a:r>
            <a:r>
              <a:rPr lang="fr-CI" sz="1000" b="0" i="0" dirty="0">
                <a:solidFill>
                  <a:srgbClr val="8E99B0"/>
                </a:solidFill>
                <a:latin typeface="Segoe UI"/>
              </a:rPr>
              <a:t>-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une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réalité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testable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dès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aujourd'hui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55448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554480"/>
            <a:ext cx="73152" cy="118872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6459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Marché sous-digitalisé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116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L'Afrique subsaharienne a besoin de solutions locales, adaptées au contexte réseau, au multilinguisme et aux usages mobiles-first.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8036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880360"/>
            <a:ext cx="73152" cy="118872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718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Barrières à l'entrée solides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337560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8E99B0"/>
                </a:solidFill>
                <a:latin typeface="Segoe UI"/>
              </a:rPr>
              <a:t>Données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géolocalisées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propriétaires,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réseau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de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centres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référencés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intégrations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services de secours</a:t>
            </a:r>
            <a:r>
              <a:rPr lang="fr-FR" sz="1000" b="0" i="0" dirty="0">
                <a:solidFill>
                  <a:srgbClr val="8E99B0"/>
                </a:solidFill>
                <a:latin typeface="Segoe UI"/>
              </a:rPr>
              <a:t>-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difficile à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répliquer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E99B0"/>
                </a:solidFill>
                <a:latin typeface="Segoe UI"/>
              </a:rPr>
              <a:t>rapidement</a:t>
            </a:r>
            <a:r>
              <a:rPr sz="1000" b="0" i="0" dirty="0">
                <a:solidFill>
                  <a:srgbClr val="8E99B0"/>
                </a:solidFill>
                <a:latin typeface="Segoe U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88036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2880360"/>
            <a:ext cx="73152" cy="118872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718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Scalabilité prouvée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3375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Architecture API REST découplée. L'ajout de nouvelles régions ou pays se fait par configuration, sans refonte du code.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20624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4206240"/>
            <a:ext cx="73152" cy="118872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2976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Équipe focalisée &amp; motivée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6634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YEFA TECHNOLOGIE, studio technique spécialisé en solutions digitales pour l'Afrique avec expertise mobile et backend.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32120"/>
            <a:ext cx="11640312" cy="9144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5532120"/>
            <a:ext cx="73152" cy="914400"/>
          </a:xfrm>
          <a:prstGeom prst="rect">
            <a:avLst/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C2340"/>
                </a:solidFill>
                <a:latin typeface="Segoe UI"/>
              </a:rPr>
              <a:t>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6052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340"/>
                </a:solidFill>
                <a:latin typeface="Segoe UI"/>
              </a:rPr>
              <a:t>Équipe focalisée &amp; motivée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95274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9B0"/>
                </a:solidFill>
                <a:latin typeface="Segoe UI"/>
              </a:rPr>
              <a:t>YEFA TECHNOLOGIE, studio technique spécialisé en solutions digitales pour l'Afrique avec expertise mobile et backend.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6025" y="45720"/>
            <a:ext cx="5943600" cy="685800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6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743200" y="4114800"/>
            <a:ext cx="3200400" cy="3200400"/>
          </a:xfrm>
          <a:prstGeom prst="ellipse">
            <a:avLst/>
          </a:prstGeom>
          <a:solidFill>
            <a:srgbClr val="00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  <a:latin typeface="Segoe UI"/>
              </a:rPr>
              <a:t>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Santé Aproximite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EEEA"/>
                </a:solidFill>
                <a:latin typeface="Segoe UI"/>
              </a:rPr>
              <a:t>La santé de proximité dans votre poche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224"/>
            <a:ext cx="27595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Segoe UI"/>
              </a:rPr>
              <a:t>Prêt à transformer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l'accès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à la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santé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
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en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Afrique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2560320" cy="594360"/>
          </a:xfrm>
          <a:prstGeom prst="roundRect">
            <a:avLst>
              <a:gd name="adj" fmla="val 40000"/>
            </a:avLst>
          </a:prstGeom>
          <a:solidFill>
            <a:srgbClr val="E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Prendre contact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Contactez-nous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9688"/>
                </a:solidFill>
                <a:latin typeface="Segoe UI"/>
              </a:rPr>
              <a:t>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305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99B0"/>
                </a:solidFill>
                <a:latin typeface="Segoe UI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50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yefa.technologie@gmail.com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9688"/>
                </a:solidFill>
                <a:latin typeface="Segoe UI"/>
              </a:rPr>
              <a:t>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9535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99B0"/>
                </a:solidFill>
                <a:latin typeface="Segoe UI"/>
              </a:rPr>
              <a:t>Entreprise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73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YEFA TECHNOLOGIE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9688"/>
                </a:solidFill>
                <a:latin typeface="Segoe UI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7764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99B0"/>
                </a:solidFill>
                <a:latin typeface="Segoe UI"/>
              </a:rP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9651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FFFFFF"/>
                </a:solidFill>
                <a:latin typeface="Segoe UI"/>
              </a:rPr>
              <a:t>Santé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Aproximite</a:t>
            </a:r>
            <a:r>
              <a:rPr lang="fr-FR" sz="1200" b="0" i="0" dirty="0">
                <a:solidFill>
                  <a:srgbClr val="FFFFFF"/>
                </a:solidFill>
                <a:latin typeface="Segoe UI"/>
              </a:rPr>
              <a:t>-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Mobile &amp;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9B0"/>
                </a:solidFill>
                <a:latin typeface="Segoe UI"/>
              </a:rPr>
              <a:t>Powered by YEFA TECHNOLOGIE  ·  yefa.technologie@gmail.com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57618" y="1879092"/>
            <a:ext cx="1603716" cy="3474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084466" y="1805940"/>
            <a:ext cx="1603716" cy="3474720"/>
          </a:xfrm>
          <a:prstGeom prst="roundRect">
            <a:avLst>
              <a:gd name="adj" fmla="val 8000"/>
            </a:avLst>
          </a:prstGeom>
          <a:solidFill>
            <a:srgbClr val="22222A"/>
          </a:solidFill>
          <a:ln w="254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08-chef-login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689" y="2049170"/>
            <a:ext cx="1411270" cy="2988259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874242" y="6601968"/>
            <a:ext cx="481115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1259</Words>
  <Application>Microsoft Office PowerPoint</Application>
  <PresentationFormat>Personnalisé</PresentationFormat>
  <Paragraphs>258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karigua soro</cp:lastModifiedBy>
  <cp:revision>5</cp:revision>
  <dcterms:created xsi:type="dcterms:W3CDTF">2013-01-27T09:14:16Z</dcterms:created>
  <dcterms:modified xsi:type="dcterms:W3CDTF">2026-04-24T08:38:23Z</dcterms:modified>
  <cp:category/>
</cp:coreProperties>
</file>